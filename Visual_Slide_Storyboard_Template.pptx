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f079c0dc674015" /><Relationship Type="http://schemas.openxmlformats.org/officeDocument/2006/relationships/extended-properties" Target="/docProps/app.xml" Id="R72201adce2a4436a" /><Relationship Type="http://schemas.openxmlformats.org/officeDocument/2006/relationships/officeDocument" Target="/ppt/presentation.xml" Id="R279d09354e674ec4" /></Relationships>
</file>

<file path=ppt/presentation.xml><?xml version="1.0" encoding="utf-8"?>
<p:presentation xmlns:p="http://schemas.openxmlformats.org/presentationml/2006/main">
  <p:sldMasterIdLst>
    <p:sldMasterId xmlns:r="http://schemas.openxmlformats.org/officeDocument/2006/relationships" id="2147483648" r:id="R12296e4960ab4d31"/>
  </p:sldMasterIdLst>
  <p:notesMasterIdLst>
    <p:notesMasterId xmlns:r="http://schemas.openxmlformats.org/officeDocument/2006/relationships" r:id="R81cd086451f74271"/>
  </p:notesMasterIdLst>
  <p:sldIdLst>
    <p:sldId xmlns:r="http://schemas.openxmlformats.org/officeDocument/2006/relationships" id="256" r:id="Rcadca7aec82943f5"/>
    <p:sldId xmlns:r="http://schemas.openxmlformats.org/officeDocument/2006/relationships" id="257" r:id="R1863e15c35274605"/>
    <p:sldId xmlns:r="http://schemas.openxmlformats.org/officeDocument/2006/relationships" id="258" r:id="R7be3e05a24b84c8b"/>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545430f39547b9" /><Relationship Type="http://schemas.openxmlformats.org/officeDocument/2006/relationships/slideMaster" Target="/ppt/slideMasters/slideMaster1.xml" Id="R12296e4960ab4d31" /><Relationship Type="http://schemas.openxmlformats.org/officeDocument/2006/relationships/notesMaster" Target="/ppt/notesMasters/notesMaster1.xml" Id="R81cd086451f74271" /><Relationship Type="http://schemas.openxmlformats.org/officeDocument/2006/relationships/presProps" Target="/ppt/presProps.xml" Id="Ra795e5fd5fd84c62" /><Relationship Type="http://schemas.openxmlformats.org/officeDocument/2006/relationships/tableStyles" Target="/ppt/tableStyles.xml" Id="Rc1d0d352b3f643f0" /><Relationship Type="http://schemas.openxmlformats.org/officeDocument/2006/relationships/slide" Target="/ppt/slides/slide1.xml" Id="Rcadca7aec82943f5" /><Relationship Type="http://schemas.openxmlformats.org/officeDocument/2006/relationships/slide" Target="/ppt/slides/slide2.xml" Id="R1863e15c35274605" /><Relationship Type="http://schemas.openxmlformats.org/officeDocument/2006/relationships/slide" Target="/ppt/slides/slide3.xml" Id="R7be3e05a24b84c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d515f3c8cc42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42b01cc48c40d9" /><Relationship Type="http://schemas.openxmlformats.org/officeDocument/2006/relationships/notesMaster" Target="/ppt/notesMasters/notesMaster1.xml" Id="R42e438a4504046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8abb3fbe3f4380" /><Relationship Type="http://schemas.openxmlformats.org/officeDocument/2006/relationships/notesMaster" Target="/ppt/notesMasters/notesMaster1.xml" Id="R5b877cc46c1c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9b0b90fb724fed" /><Relationship Type="http://schemas.openxmlformats.org/officeDocument/2006/relationships/notesMaster" Target="/ppt/notesMasters/notesMaster1.xml" Id="R7d5a1eac1a8448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visual review layer of the Multimedia Instructional Storyboard Template. Each storyboard page represents a learner screen, video segment or scene. Use the same scene ID as the detailed record. For long scripts, place the complete text in Notes and label it NARRATION EXACT. The visible page may show a short excerpt, labeled as an excerpt. Use comments for discussion. Record approved decisions in the storyboard.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RECORD LINK: [Document name, location and scene ID]</a:t>
            </a:r>
          </a:p>
          <a:p xmlns:a="http://schemas.openxmlformats.org/drawingml/2006/main">
            <a:r>
              <a:t>NARRATION EXACT: [Full script]</a:t>
            </a:r>
          </a:p>
          <a:p xmlns:a="http://schemas.openxmlformats.org/drawingml/2006/main">
            <a:r>
              <a:t>ON SCREEN TEXT EXACT: [Final text if not visible in the sketch]</a:t>
            </a:r>
          </a:p>
          <a:p xmlns:a="http://schemas.openxmlformats.org/drawingml/2006/main">
            <a:r>
              <a:t>INTERACTION AND FEEDBACK: [Detailed record reference]</a:t>
            </a:r>
          </a:p>
          <a:p xmlns:a="http://schemas.openxmlformats.org/drawingml/2006/main">
            <a:r>
              <a:t>ASSET IDS AND SOURCES: [References]</a:t>
            </a:r>
          </a:p>
          <a:p xmlns:a="http://schemas.openxmlformats.org/drawingml/2006/main">
            <a:r>
              <a:t>ACCESSIBILITY: [Detailed record reference]</a:t>
            </a:r>
          </a:p>
          <a:p xmlns:a="http://schemas.openxmlformats.org/drawingml/2006/main">
            <a:r>
              <a:t>APPROVAL: [Reviewer, version, date]</a:t>
            </a:r>
          </a:p>
          <a:p xmlns:a="http://schemas.openxmlformats.org/drawingml/2006/main">
            <a:r>
              <a:t>Use this page for visual review. Complete unresolved production rules in the larger storyboard before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a:t>
            </a:r>
          </a:p>
          <a:p xmlns:a="http://schemas.openxmlformats.org/drawingml/2006/main">
            <a:r>
              <a:t>Scene ID: SC-001</a:t>
            </a:r>
          </a:p>
          <a:p xmlns:a="http://schemas.openxmlformats.org/drawingml/2006/main">
            <a:r>
              <a:t>Objective ID: OBJ-01</a:t>
            </a:r>
          </a:p>
          <a:p xmlns:a="http://schemas.openxmlformats.org/drawingml/2006/main">
            <a:r>
              <a:t>Narration exact: Think about the evidence you would need to support this claim. Choose the strongest source.</a:t>
            </a:r>
          </a:p>
          <a:p xmlns:a="http://schemas.openxmlformats.org/drawingml/2006/main">
            <a:r>
              <a:t>Correct feedback exact: Performance scores before and after training directly address change in task performance. Additional study design information is needed to judge whether training caused the improvement.</a:t>
            </a:r>
          </a:p>
          <a:p xmlns:a="http://schemas.openxmlformats.org/drawingml/2006/main">
            <a:r>
              <a:t>A feedback exact: Satisfaction describes how participants felt. It does not directly measure task performance. Try again.</a:t>
            </a:r>
          </a:p>
          <a:p xmlns:a="http://schemas.openxmlformats.org/drawingml/2006/main">
            <a:r>
              <a:t>C feedback exact: Attendance shows participation. It does not directly measure task performance. Try again.</a:t>
            </a:r>
          </a:p>
          <a:p xmlns:a="http://schemas.openxmlformats.org/drawingml/2006/main">
            <a:r>
              <a:t>Next scene: TBD. This example requires a completed detailed record before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4c2524b5ce4c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a1051a3f0b4e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722ed7bc204f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7521d1f45a45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8f762ad7b34a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d761dbe1c84d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DCA18BC-F843-40B3-9713-A3AC486555E8}"/>
              </a:ext>
            </a:extLst>
          </p:cNvPr>
          <p:cNvSpPr>
            <a:spLocks xmlns:a="http://schemas.openxmlformats.org/drawingml/2006/main" noGrp="1"/>
          </p:cNvSpPr>
          <p:nvPr/>
        </p:nvSpPr>
        <p:spPr>
          <a:xfrm xmlns:a="http://schemas.openxmlformats.org/drawingml/2006/main">
            <a:off x="7239000" y="3069167"/>
            <a:ext cx="762000" cy="529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BE41119-538F-4278-A905-0E8F474CF291}"/>
              </a:ext>
            </a:extLst>
          </p:cNvPr>
          <p:cNvSpPr>
            <a:spLocks xmlns:a="http://schemas.openxmlformats.org/drawingml/2006/main" noGrp="1"/>
          </p:cNvSpPr>
          <p:nvPr>
            <p:ph type="title" idx="0"/>
          </p:nvPr>
        </p:nvSpPr>
        <p:spPr>
          <a:xfrm xmlns:a="http://schemas.openxmlformats.org/drawingml/2006/main">
            <a:off x="1524000" y="3598333"/>
            <a:ext cx="12192000" cy="1375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C4B54A0-0BDF-4C18-88E6-E8F3AFC2ECE9}"/>
              </a:ext>
            </a:extLst>
          </p:cNvPr>
          <p:cNvSpPr>
            <a:spLocks xmlns:a="http://schemas.openxmlformats.org/drawingml/2006/main" noGrp="1"/>
          </p:cNvSpPr>
          <p:nvPr>
            <p:ph type="subTitle" idx="1"/>
          </p:nvPr>
        </p:nvSpPr>
        <p:spPr>
          <a:xfrm xmlns:a="http://schemas.openxmlformats.org/drawingml/2006/main">
            <a:off x="2286000" y="5238750"/>
            <a:ext cx="10668000" cy="1058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7D13AE1-B2D4-4091-AF4C-BB1B61629DB0}"/>
              </a:ext>
            </a:extLst>
          </p:cNvPr>
          <p:cNvSpPr>
            <a:spLocks xmlns:a="http://schemas.openxmlformats.org/drawingml/2006/main" noGrp="1"/>
          </p:cNvSpPr>
          <p:nvPr/>
        </p:nvSpPr>
        <p:spPr>
          <a:xfrm xmlns:a="http://schemas.openxmlformats.org/drawingml/2006/main">
            <a:off x="7239000" y="3439583"/>
            <a:ext cx="762000" cy="529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541FF95-0AE3-4526-B7D4-7E6B51DD5AF9}"/>
              </a:ext>
            </a:extLst>
          </p:cNvPr>
          <p:cNvSpPr>
            <a:spLocks xmlns:a="http://schemas.openxmlformats.org/drawingml/2006/main" noGrp="1"/>
          </p:cNvSpPr>
          <p:nvPr>
            <p:ph type="title" idx="0"/>
          </p:nvPr>
        </p:nvSpPr>
        <p:spPr>
          <a:xfrm xmlns:a="http://schemas.openxmlformats.org/drawingml/2006/main">
            <a:off x="1524000" y="3968750"/>
            <a:ext cx="12192000" cy="1587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989B916-F8D1-4DC0-B350-351BE751FC46}"/>
              </a:ext>
            </a:extLst>
          </p:cNvPr>
          <p:cNvSpPr>
            <a:spLocks xmlns:a="http://schemas.openxmlformats.org/drawingml/2006/main" noGrp="1"/>
          </p:cNvSpPr>
          <p:nvPr/>
        </p:nvSpPr>
        <p:spPr>
          <a:xfrm xmlns:a="http://schemas.openxmlformats.org/drawingml/2006/main">
            <a:off x="857250" y="2116667"/>
            <a:ext cx="762000" cy="529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3A0A09-7C5E-414E-9E50-22ADD01A5466}"/>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4DD942E-49FD-45BD-8C93-06641BC0B86A}"/>
              </a:ext>
            </a:extLst>
          </p:cNvPr>
          <p:cNvSpPr>
            <a:spLocks xmlns:a="http://schemas.openxmlformats.org/drawingml/2006/main" noGrp="1"/>
          </p:cNvSpPr>
          <p:nvPr>
            <p:ph type="body" idx="1"/>
          </p:nvPr>
        </p:nvSpPr>
        <p:spPr>
          <a:xfrm xmlns:a="http://schemas.openxmlformats.org/drawingml/2006/main">
            <a:off x="857250" y="2645833"/>
            <a:ext cx="13525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160F14A6-6012-402E-8FFF-DFFA810A1E14}"/>
              </a:ext>
            </a:extLst>
          </p:cNvPr>
          <p:cNvSpPr>
            <a:spLocks xmlns:a="http://schemas.openxmlformats.org/drawingml/2006/main" noGrp="1"/>
          </p:cNvSpPr>
          <p:nvPr/>
        </p:nvSpPr>
        <p:spPr>
          <a:xfrm xmlns:a="http://schemas.openxmlformats.org/drawingml/2006/main">
            <a:off x="857250" y="2116667"/>
            <a:ext cx="762000" cy="529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8167D40-6F34-47AA-BB2B-4DB4AF0C8CD5}"/>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7ECCE09-3FC3-40C9-9797-5B2515DF1FC3}"/>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8BA80D3-BC2E-448E-9091-E578E3D11333}"/>
              </a:ext>
            </a:extLst>
          </p:cNvPr>
          <p:cNvSpPr>
            <a:spLocks xmlns:a="http://schemas.openxmlformats.org/drawingml/2006/main" noGrp="1"/>
          </p:cNvSpPr>
          <p:nvPr>
            <p:ph type="body" idx="2"/>
          </p:nvPr>
        </p:nvSpPr>
        <p:spPr>
          <a:xfrm xmlns:a="http://schemas.openxmlformats.org/drawingml/2006/main">
            <a:off x="8096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8D1778E-596E-40E2-8F2F-865915566E4B}"/>
              </a:ext>
            </a:extLst>
          </p:cNvPr>
          <p:cNvSpPr>
            <a:spLocks xmlns:a="http://schemas.openxmlformats.org/drawingml/2006/main" noGrp="1"/>
          </p:cNvSpPr>
          <p:nvPr/>
        </p:nvSpPr>
        <p:spPr>
          <a:xfrm xmlns:a="http://schemas.openxmlformats.org/drawingml/2006/main">
            <a:off x="857250" y="2116667"/>
            <a:ext cx="762000" cy="529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34ED0B0-19A7-46F9-AEAF-E3D7E8C0BC21}"/>
              </a:ext>
            </a:extLst>
          </p:cNvPr>
          <p:cNvSpPr>
            <a:spLocks xmlns:a="http://schemas.openxmlformats.org/drawingml/2006/main" noGrp="1"/>
          </p:cNvSpPr>
          <p:nvPr>
            <p:ph type="title" idx="0"/>
          </p:nvPr>
        </p:nvSpPr>
        <p:spPr>
          <a:xfrm xmlns:a="http://schemas.openxmlformats.org/drawingml/2006/main">
            <a:off x="857250" y="740833"/>
            <a:ext cx="13525500" cy="11641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473AD05-7801-4A4D-93EC-B0EB49A1C53B}"/>
              </a:ext>
            </a:extLst>
          </p:cNvPr>
          <p:cNvSpPr>
            <a:spLocks xmlns:a="http://schemas.openxmlformats.org/drawingml/2006/main" noGrp="1"/>
          </p:cNvSpPr>
          <p:nvPr>
            <p:ph type="body" idx="1"/>
          </p:nvPr>
        </p:nvSpPr>
        <p:spPr>
          <a:xfrm xmlns:a="http://schemas.openxmlformats.org/drawingml/2006/main">
            <a:off x="857250" y="2645833"/>
            <a:ext cx="6286500" cy="592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7457abd6b541ae" /><Relationship Type="http://schemas.openxmlformats.org/officeDocument/2006/relationships/slideLayout" Target="/ppt/slideLayouts/slideLayout1.xml" Id="R8bc54faf594847d2" /><Relationship Type="http://schemas.openxmlformats.org/officeDocument/2006/relationships/slideLayout" Target="/ppt/slideLayouts/slideLayout2.xml" Id="R17d9cb60306e4442" /><Relationship Type="http://schemas.openxmlformats.org/officeDocument/2006/relationships/slideLayout" Target="/ppt/slideLayouts/slideLayout3.xml" Id="R0465bee8d9a44603" /><Relationship Type="http://schemas.openxmlformats.org/officeDocument/2006/relationships/slideLayout" Target="/ppt/slideLayouts/slideLayout4.xml" Id="R671e44dee6584f93" /><Relationship Type="http://schemas.openxmlformats.org/officeDocument/2006/relationships/slideLayout" Target="/ppt/slideLayouts/slideLayout5.xml" Id="Rc3987f47ce30423a" /><Relationship Type="http://schemas.openxmlformats.org/officeDocument/2006/relationships/slideLayout" Target="/ppt/slideLayouts/slideLayout6.xml" Id="R729ec94a2a5c41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54faf594847d2"/>
    <p:sldLayoutId xmlns:r="http://schemas.openxmlformats.org/officeDocument/2006/relationships" id="2147483650" r:id="R17d9cb60306e4442"/>
    <p:sldLayoutId xmlns:r="http://schemas.openxmlformats.org/officeDocument/2006/relationships" id="2147483651" r:id="R0465bee8d9a44603"/>
    <p:sldLayoutId xmlns:r="http://schemas.openxmlformats.org/officeDocument/2006/relationships" id="2147483652" r:id="R671e44dee6584f93"/>
    <p:sldLayoutId xmlns:r="http://schemas.openxmlformats.org/officeDocument/2006/relationships" id="2147483653" r:id="Rc3987f47ce30423a"/>
    <p:sldLayoutId xmlns:r="http://schemas.openxmlformats.org/officeDocument/2006/relationships" id="2147483654" r:id="R729ec94a2a5c41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574c8566c541b6" /><Relationship Type="http://schemas.openxmlformats.org/officeDocument/2006/relationships/notesSlide" Target="/ppt/notesSlides/notesSlide1.xml" Id="Rb90f13f5d40349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cf2b42849c449f" /><Relationship Type="http://schemas.openxmlformats.org/officeDocument/2006/relationships/notesSlide" Target="/ppt/notesSlides/notesSlide2.xml" Id="R8a7344362e5543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76965f3a6444be" /><Relationship Type="http://schemas.openxmlformats.org/officeDocument/2006/relationships/notesSlide" Target="/ppt/notesSlides/notesSlide3.xml" Id="R015feff0a3834abb"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230501-809A-427F-AB96-54A15C17C045}"/>
              </a:ext>
            </a:extLst>
          </p:cNvPr>
          <p:cNvSpPr>
            <a:spLocks xmlns:a="http://schemas.openxmlformats.org/drawingml/2006/main" noGrp="1"/>
          </p:cNvSpPr>
          <p:nvPr/>
        </p:nvSpPr>
        <p:spPr>
          <a:xfrm xmlns:a="http://schemas.openxmlformats.org/drawingml/2006/main">
            <a:off x="571500" y="333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83D"/>
                </a:solidFill>
                <a:latin typeface="Bitstream Charter"/>
                <a:ea typeface="Bitstream Charter"/>
                <a:cs typeface="Bitstream Charter"/>
              </a:defRPr>
            </a:pPr>
            <a:r>
              <a:rPr sz="3225" b="1">
                <a:solidFill>
                  <a:srgbClr val="17283D"/>
                </a:solidFill>
                <a:latin typeface="Bitstream Charter"/>
                <a:ea typeface="Bitstream Charter"/>
                <a:cs typeface="Bitstream Charter"/>
              </a:rPr>
              <a:t>Visual slide storyboard</a:t>
            </a:r>
          </a:p>
        </p:txBody>
      </p:sp>
      <p:sp>
        <p:nvSpPr>
          <p:cNvPr id="2" name="">
            <a:extLst xmlns:a="http://schemas.openxmlformats.org/drawingml/2006/main">
              <a:ext uri="{FF2B5EF4-FFF2-40B4-BE49-F238E27FC236}">
                <a16:creationId xmlns:a16="http://schemas.microsoft.com/office/drawing/2014/main" id="{D4EE236C-BE42-487C-BAAF-BCBA7A419A40}"/>
              </a:ext>
            </a:extLst>
          </p:cNvPr>
          <p:cNvSpPr>
            <a:spLocks xmlns:a="http://schemas.openxmlformats.org/drawingml/2006/main" noGrp="1"/>
          </p:cNvSpPr>
          <p:nvPr/>
        </p:nvSpPr>
        <p:spPr>
          <a:xfrm xmlns:a="http://schemas.openxmlformats.org/drawingml/2006/main">
            <a:off x="571500" y="10477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386"/>
                </a:solidFill>
                <a:latin typeface="Bitstream Charter"/>
                <a:ea typeface="Bitstream Charter"/>
                <a:cs typeface="Bitstream Charter"/>
              </a:defRPr>
            </a:pPr>
            <a:r>
              <a:rPr sz="1650" b="0">
                <a:solidFill>
                  <a:srgbClr val="627386"/>
                </a:solidFill>
                <a:latin typeface="Bitstream Charter"/>
                <a:ea typeface="Bitstream Charter"/>
                <a:cs typeface="Bitstream Charter"/>
              </a:rPr>
              <a:t>One page per learner screen or meaningful scene</a:t>
            </a:r>
          </a:p>
        </p:txBody>
      </p:sp>
      <p:sp>
        <p:nvSpPr>
          <p:cNvPr id="3" name="">
            <a:extLst xmlns:a="http://schemas.openxmlformats.org/drawingml/2006/main">
              <a:ext uri="{FF2B5EF4-FFF2-40B4-BE49-F238E27FC236}">
                <a16:creationId xmlns:a16="http://schemas.microsoft.com/office/drawing/2014/main" id="{96F69E31-0362-4898-AD7E-B250864BFD7C}"/>
              </a:ext>
            </a:extLst>
          </p:cNvPr>
          <p:cNvSpPr>
            <a:spLocks xmlns:a="http://schemas.openxmlformats.org/drawingml/2006/main" noGrp="1"/>
          </p:cNvSpPr>
          <p:nvPr/>
        </p:nvSpPr>
        <p:spPr>
          <a:xfrm xmlns:a="http://schemas.openxmlformats.org/drawingml/2006/main">
            <a:off x="571500" y="2047875"/>
            <a:ext cx="876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83D"/>
                </a:solidFill>
                <a:latin typeface="Bitstream Charter"/>
                <a:ea typeface="Bitstream Charter"/>
                <a:cs typeface="Bitstream Charter"/>
              </a:defRPr>
            </a:pPr>
            <a:r>
              <a:rPr sz="2850" b="1">
                <a:solidFill>
                  <a:srgbClr val="17283D"/>
                </a:solidFill>
                <a:latin typeface="Bitstream Charter"/>
                <a:ea typeface="Bitstream Charter"/>
                <a:cs typeface="Bitstream Charter"/>
              </a:rPr>
              <a:t>The screen leads the conversation</a:t>
            </a:r>
          </a:p>
        </p:txBody>
      </p:sp>
      <p:sp>
        <p:nvSpPr>
          <p:cNvPr id="4" name="">
            <a:extLst xmlns:a="http://schemas.openxmlformats.org/drawingml/2006/main">
              <a:ext uri="{FF2B5EF4-FFF2-40B4-BE49-F238E27FC236}">
                <a16:creationId xmlns:a16="http://schemas.microsoft.com/office/drawing/2014/main" id="{462B7E38-039F-43CE-A76C-8F4304F78185}"/>
              </a:ext>
            </a:extLst>
          </p:cNvPr>
          <p:cNvSpPr>
            <a:spLocks xmlns:a="http://schemas.openxmlformats.org/drawingml/2006/main" noGrp="1"/>
          </p:cNvSpPr>
          <p:nvPr/>
        </p:nvSpPr>
        <p:spPr>
          <a:xfrm xmlns:a="http://schemas.openxmlformats.org/drawingml/2006/main">
            <a:off x="571500" y="2809875"/>
            <a:ext cx="885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6374B"/>
                </a:solidFill>
                <a:latin typeface="Bitstream Charter"/>
                <a:ea typeface="Bitstream Charter"/>
                <a:cs typeface="Bitstream Charter"/>
              </a:defRPr>
            </a:pPr>
            <a:r>
              <a:rPr sz="2325" b="0">
                <a:solidFill>
                  <a:srgbClr val="26374B"/>
                </a:solidFill>
                <a:latin typeface="Bitstream Charter"/>
                <a:ea typeface="Bitstream Charter"/>
                <a:cs typeface="Bitstream Charter"/>
              </a:rPr>
              <a:t>Sketch the learner view. Add the exact words they hear and a few lines about what they do. Review the experience together before adding production detail.</a:t>
            </a:r>
          </a:p>
        </p:txBody>
      </p:sp>
      <p:sp>
        <p:nvSpPr>
          <p:cNvPr id="5" name="">
            <a:extLst xmlns:a="http://schemas.openxmlformats.org/drawingml/2006/main">
              <a:ext uri="{FF2B5EF4-FFF2-40B4-BE49-F238E27FC236}">
                <a16:creationId xmlns:a16="http://schemas.microsoft.com/office/drawing/2014/main" id="{77C705D7-EDA5-425B-90EE-D321E97C2004}"/>
              </a:ext>
            </a:extLst>
          </p:cNvPr>
          <p:cNvSpPr>
            <a:spLocks xmlns:a="http://schemas.openxmlformats.org/drawingml/2006/main" noGrp="1"/>
          </p:cNvSpPr>
          <p:nvPr/>
        </p:nvSpPr>
        <p:spPr>
          <a:xfrm xmlns:a="http://schemas.openxmlformats.org/drawingml/2006/main">
            <a:off x="571500" y="48577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6374B"/>
                </a:solidFill>
                <a:latin typeface="Bitstream Charter"/>
                <a:ea typeface="Bitstream Charter"/>
                <a:cs typeface="Bitstream Charter"/>
              </a:defRPr>
            </a:pPr>
            <a:r>
              <a:rPr sz="2175" b="0">
                <a:solidFill>
                  <a:srgbClr val="26374B"/>
                </a:solidFill>
                <a:latin typeface="Bitstream Charter"/>
                <a:ea typeface="Bitstream Charter"/>
                <a:cs typeface="Bitstream Charter"/>
              </a:rPr>
              <a:t>1   Duplicate the blank storyboard page</a:t>
            </a:r>
          </a:p>
          <a:p xmlns:a="http://schemas.openxmlformats.org/drawingml/2006/main">
            <a:pPr>
              <a:defRPr sz="2175" b="0">
                <a:solidFill>
                  <a:srgbClr val="26374B"/>
                </a:solidFill>
                <a:latin typeface="Bitstream Charter"/>
                <a:ea typeface="Bitstream Charter"/>
                <a:cs typeface="Bitstream Charter"/>
              </a:defRPr>
            </a:pPr>
            <a:r>
              <a:rPr sz="2175" b="0">
                <a:solidFill>
                  <a:srgbClr val="26374B"/>
                </a:solidFill>
                <a:latin typeface="Bitstream Charter"/>
                <a:ea typeface="Bitstream Charter"/>
                <a:cs typeface="Bitstream Charter"/>
              </a:rPr>
              <a:t>2   Add a sketch, screenshot or editable layout</a:t>
            </a:r>
          </a:p>
          <a:p xmlns:a="http://schemas.openxmlformats.org/drawingml/2006/main">
            <a:pPr>
              <a:defRPr sz="2175" b="0">
                <a:solidFill>
                  <a:srgbClr val="26374B"/>
                </a:solidFill>
                <a:latin typeface="Bitstream Charter"/>
                <a:ea typeface="Bitstream Charter"/>
                <a:cs typeface="Bitstream Charter"/>
              </a:defRPr>
            </a:pPr>
            <a:r>
              <a:rPr sz="2175" b="0">
                <a:solidFill>
                  <a:srgbClr val="26374B"/>
                </a:solidFill>
                <a:latin typeface="Bitstream Charter"/>
                <a:ea typeface="Bitstream Charter"/>
                <a:cs typeface="Bitstream Charter"/>
              </a:rPr>
              <a:t>3   Capture narration, action and feedback</a:t>
            </a:r>
          </a:p>
          <a:p xmlns:a="http://schemas.openxmlformats.org/drawingml/2006/main">
            <a:pPr>
              <a:defRPr sz="2175" b="0">
                <a:solidFill>
                  <a:srgbClr val="26374B"/>
                </a:solidFill>
                <a:latin typeface="Bitstream Charter"/>
                <a:ea typeface="Bitstream Charter"/>
                <a:cs typeface="Bitstream Charter"/>
              </a:defRPr>
            </a:pPr>
            <a:r>
              <a:rPr sz="2175" b="0">
                <a:solidFill>
                  <a:srgbClr val="26374B"/>
                </a:solidFill>
                <a:latin typeface="Bitstream Charter"/>
                <a:ea typeface="Bitstream Charter"/>
                <a:cs typeface="Bitstream Charter"/>
              </a:rPr>
              <a:t>4   Keep the scene ID when handing off</a:t>
            </a:r>
          </a:p>
        </p:txBody>
      </p:sp>
      <p:sp>
        <p:nvSpPr>
          <p:cNvPr id="6" name="">
            <a:extLst xmlns:a="http://schemas.openxmlformats.org/drawingml/2006/main">
              <a:ext uri="{FF2B5EF4-FFF2-40B4-BE49-F238E27FC236}">
                <a16:creationId xmlns:a16="http://schemas.microsoft.com/office/drawing/2014/main" id="{B70522CF-F4EB-41E8-8EF9-405761A77B2C}"/>
              </a:ext>
            </a:extLst>
          </p:cNvPr>
          <p:cNvSpPr>
            <a:spLocks xmlns:a="http://schemas.openxmlformats.org/drawingml/2006/main" noGrp="1"/>
          </p:cNvSpPr>
          <p:nvPr/>
        </p:nvSpPr>
        <p:spPr>
          <a:xfrm xmlns:a="http://schemas.openxmlformats.org/drawingml/2006/main">
            <a:off x="10001250" y="2047875"/>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283D"/>
                </a:solidFill>
                <a:latin typeface="Bitstream Charter"/>
                <a:ea typeface="Bitstream Charter"/>
                <a:cs typeface="Bitstream Charter"/>
              </a:defRPr>
            </a:pPr>
            <a:r>
              <a:rPr sz="2175" b="1">
                <a:solidFill>
                  <a:srgbClr val="17283D"/>
                </a:solidFill>
                <a:latin typeface="Bitstream Charter"/>
                <a:ea typeface="Bitstream Charter"/>
                <a:cs typeface="Bitstream Charter"/>
              </a:rPr>
              <a:t>Connection to the larger storyboard</a:t>
            </a:r>
          </a:p>
        </p:txBody>
      </p:sp>
      <p:sp>
        <p:nvSpPr>
          <p:cNvPr id="7" name="">
            <a:extLst xmlns:a="http://schemas.openxmlformats.org/drawingml/2006/main">
              <a:ext uri="{FF2B5EF4-FFF2-40B4-BE49-F238E27FC236}">
                <a16:creationId xmlns:a16="http://schemas.microsoft.com/office/drawing/2014/main" id="{71B06672-E60F-4486-AFF0-CCDE0F8D3207}"/>
              </a:ext>
            </a:extLst>
          </p:cNvPr>
          <p:cNvSpPr>
            <a:spLocks xmlns:a="http://schemas.openxmlformats.org/drawingml/2006/main" noGrp="1"/>
          </p:cNvSpPr>
          <p:nvPr/>
        </p:nvSpPr>
        <p:spPr>
          <a:xfrm xmlns:a="http://schemas.openxmlformats.org/drawingml/2006/main">
            <a:off x="10001250" y="3190875"/>
            <a:ext cx="4572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Scene ID connects this page to its detailed record.</a:t>
            </a:r>
          </a:p>
          <a:p xmlns:a="http://schemas.openxmlformats.org/drawingml/2006/main">
            <a:r>
              <a:t/>
            </a:r>
          </a:p>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Keep scripts, asset specifications, scoring rules and reporting details in the larger document or Notes.</a:t>
            </a:r>
          </a:p>
        </p:txBody>
      </p:sp>
      <p:sp>
        <p:nvSpPr>
          <p:cNvPr id="8" name="">
            <a:extLst xmlns:a="http://schemas.openxmlformats.org/drawingml/2006/main">
              <a:ext uri="{FF2B5EF4-FFF2-40B4-BE49-F238E27FC236}">
                <a16:creationId xmlns:a16="http://schemas.microsoft.com/office/drawing/2014/main" id="{F870D4F6-4603-4E22-B59E-D6C76418E436}"/>
              </a:ext>
            </a:extLst>
          </p:cNvPr>
          <p:cNvSpPr>
            <a:spLocks xmlns:a="http://schemas.openxmlformats.org/drawingml/2006/main" noGrp="1"/>
          </p:cNvSpPr>
          <p:nvPr/>
        </p:nvSpPr>
        <p:spPr>
          <a:xfrm xmlns:a="http://schemas.openxmlformats.org/drawingml/2006/main">
            <a:off x="571500" y="82391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7386"/>
                </a:solidFill>
                <a:latin typeface="Bitstream Charter"/>
                <a:ea typeface="Bitstream Charter"/>
                <a:cs typeface="Bitstream Charter"/>
              </a:defRPr>
            </a:pPr>
            <a:r>
              <a:rPr sz="1725" b="0">
                <a:solidFill>
                  <a:srgbClr val="627386"/>
                </a:solidFill>
                <a:latin typeface="Bitstream Charter"/>
                <a:ea typeface="Bitstream Charter"/>
                <a:cs typeface="Bitstream Charter"/>
              </a:rPr>
              <a:t>Included: a blank page to duplicate and a worked example. All text and layout objects remain editable.</a:t>
            </a:r>
          </a:p>
        </p:txBody>
      </p:sp>
    </p:spTree>
    <p:extLst>
      <p:ext uri="{BB962C8B-B14F-4D97-AF65-F5344CB8AC3E}">
        <p14:creationId xmlns:p14="http://schemas.microsoft.com/office/powerpoint/2010/main" val="761997365"/>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209B61-AA01-4FF4-BEB8-51C30F17D07D}"/>
              </a:ext>
            </a:extLst>
          </p:cNvPr>
          <p:cNvSpPr>
            <a:spLocks xmlns:a="http://schemas.openxmlformats.org/drawingml/2006/main" noGrp="1"/>
          </p:cNvSpPr>
          <p:nvPr/>
        </p:nvSpPr>
        <p:spPr>
          <a:xfrm xmlns:a="http://schemas.openxmlformats.org/drawingml/2006/main">
            <a:off x="571500" y="333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83D"/>
                </a:solidFill>
                <a:latin typeface="Bitstream Charter"/>
                <a:ea typeface="Bitstream Charter"/>
                <a:cs typeface="Bitstream Charter"/>
              </a:defRPr>
            </a:pPr>
            <a:r>
              <a:rPr sz="3225" b="1">
                <a:solidFill>
                  <a:srgbClr val="17283D"/>
                </a:solidFill>
                <a:latin typeface="Bitstream Charter"/>
                <a:ea typeface="Bitstream Charter"/>
                <a:cs typeface="Bitstream Charter"/>
              </a:rPr>
              <a:t>[Slide title]</a:t>
            </a:r>
          </a:p>
        </p:txBody>
      </p:sp>
      <p:sp>
        <p:nvSpPr>
          <p:cNvPr id="2" name="">
            <a:extLst xmlns:a="http://schemas.openxmlformats.org/drawingml/2006/main">
              <a:ext uri="{FF2B5EF4-FFF2-40B4-BE49-F238E27FC236}">
                <a16:creationId xmlns:a16="http://schemas.microsoft.com/office/drawing/2014/main" id="{8218FD6C-E663-4842-8A98-550273D10D4B}"/>
              </a:ext>
            </a:extLst>
          </p:cNvPr>
          <p:cNvSpPr>
            <a:spLocks xmlns:a="http://schemas.openxmlformats.org/drawingml/2006/main" noGrp="1"/>
          </p:cNvSpPr>
          <p:nvPr/>
        </p:nvSpPr>
        <p:spPr>
          <a:xfrm xmlns:a="http://schemas.openxmlformats.org/drawingml/2006/main">
            <a:off x="571500" y="10477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386"/>
                </a:solidFill>
                <a:latin typeface="Bitstream Charter"/>
                <a:ea typeface="Bitstream Charter"/>
                <a:cs typeface="Bitstream Charter"/>
              </a:defRPr>
            </a:pPr>
            <a:r>
              <a:rPr sz="1650" b="0">
                <a:solidFill>
                  <a:srgbClr val="627386"/>
                </a:solidFill>
                <a:latin typeface="Bitstream Charter"/>
                <a:ea typeface="Bitstream Charter"/>
                <a:cs typeface="Bitstream Charter"/>
              </a:rPr>
              <a:t>SCENE [SC-___]     OBJECTIVE [OBJ-___]     VERSION [___]     STATUS [Draft / Review / Approved]</a:t>
            </a:r>
          </a:p>
        </p:txBody>
      </p:sp>
      <p:sp>
        <p:nvSpPr>
          <p:cNvPr id="3" name="">
            <a:extLst xmlns:a="http://schemas.openxmlformats.org/drawingml/2006/main">
              <a:ext uri="{FF2B5EF4-FFF2-40B4-BE49-F238E27FC236}">
                <a16:creationId xmlns:a16="http://schemas.microsoft.com/office/drawing/2014/main" id="{A981308B-E8D3-4FF4-8C2D-D67A858955DB}"/>
              </a:ext>
            </a:extLst>
          </p:cNvPr>
          <p:cNvSpPr>
            <a:spLocks xmlns:a="http://schemas.openxmlformats.org/drawingml/2006/main" noGrp="1"/>
          </p:cNvSpPr>
          <p:nvPr/>
        </p:nvSpPr>
        <p:spPr>
          <a:xfrm xmlns:a="http://schemas.openxmlformats.org/drawingml/2006/main">
            <a:off x="571500" y="1619250"/>
            <a:ext cx="228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65B83"/>
                </a:solidFill>
                <a:latin typeface="Bitstream Charter"/>
                <a:ea typeface="Bitstream Charter"/>
                <a:cs typeface="Bitstream Charter"/>
              </a:defRPr>
            </a:pPr>
            <a:r>
              <a:rPr sz="1650" b="1">
                <a:solidFill>
                  <a:srgbClr val="365B83"/>
                </a:solidFill>
                <a:latin typeface="Bitstream Charter"/>
                <a:ea typeface="Bitstream Charter"/>
                <a:cs typeface="Bitstream Charter"/>
              </a:rPr>
              <a:t>Learning purpose</a:t>
            </a:r>
          </a:p>
        </p:txBody>
      </p:sp>
      <p:sp>
        <p:nvSpPr>
          <p:cNvPr id="4" name="">
            <a:extLst xmlns:a="http://schemas.openxmlformats.org/drawingml/2006/main">
              <a:ext uri="{FF2B5EF4-FFF2-40B4-BE49-F238E27FC236}">
                <a16:creationId xmlns:a16="http://schemas.microsoft.com/office/drawing/2014/main" id="{FC434651-4DA0-499A-9094-75E3981DD173}"/>
              </a:ext>
            </a:extLst>
          </p:cNvPr>
          <p:cNvSpPr>
            <a:spLocks xmlns:a="http://schemas.openxmlformats.org/drawingml/2006/main" noGrp="1"/>
          </p:cNvSpPr>
          <p:nvPr/>
        </p:nvSpPr>
        <p:spPr>
          <a:xfrm xmlns:a="http://schemas.openxmlformats.org/drawingml/2006/main">
            <a:off x="2952750" y="1619250"/>
            <a:ext cx="1171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[What should the learner understand or do?]</a:t>
            </a:r>
          </a:p>
        </p:txBody>
      </p:sp>
      <p:sp>
        <p:nvSpPr>
          <p:cNvPr id="5" name="">
            <a:extLst xmlns:a="http://schemas.openxmlformats.org/drawingml/2006/main">
              <a:ext uri="{FF2B5EF4-FFF2-40B4-BE49-F238E27FC236}">
                <a16:creationId xmlns:a16="http://schemas.microsoft.com/office/drawing/2014/main" id="{9A24E71B-C61C-4BA1-B8C1-C925EC1E4A14}"/>
              </a:ext>
            </a:extLst>
          </p:cNvPr>
          <p:cNvSpPr>
            <a:spLocks xmlns:a="http://schemas.openxmlformats.org/drawingml/2006/main" noGrp="1"/>
          </p:cNvSpPr>
          <p:nvPr/>
        </p:nvSpPr>
        <p:spPr>
          <a:xfrm xmlns:a="http://schemas.openxmlformats.org/drawingml/2006/main">
            <a:off x="571500" y="2286000"/>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 LEARNER SEES</a:t>
            </a:r>
          </a:p>
        </p:txBody>
      </p:sp>
      <p:sp>
        <p:nvSpPr>
          <p:cNvPr id="6" name="">
            <a:extLst xmlns:a="http://schemas.openxmlformats.org/drawingml/2006/main">
              <a:ext uri="{FF2B5EF4-FFF2-40B4-BE49-F238E27FC236}">
                <a16:creationId xmlns:a16="http://schemas.microsoft.com/office/drawing/2014/main" id="{7C87C367-3750-41EF-8507-094EDC99FB46}"/>
              </a:ext>
            </a:extLst>
          </p:cNvPr>
          <p:cNvSpPr>
            <a:spLocks xmlns:a="http://schemas.openxmlformats.org/drawingml/2006/main" noGrp="1"/>
          </p:cNvSpPr>
          <p:nvPr/>
        </p:nvSpPr>
        <p:spPr>
          <a:xfrm xmlns:a="http://schemas.openxmlformats.org/drawingml/2006/main">
            <a:off x="571500" y="2762250"/>
            <a:ext cx="8858250" cy="4982766"/>
          </a:xfrm>
          <a:prstGeom xmlns:a="http://schemas.openxmlformats.org/drawingml/2006/main" prst="rect">
            <a:avLst/>
          </a:prstGeom>
          <a:solidFill xmlns:a="http://schemas.openxmlformats.org/drawingml/2006/main">
            <a:srgbClr val="FFFFFF"/>
          </a:solidFill>
          <a:ln xmlns:a="http://schemas.openxmlformats.org/drawingml/2006/main" w="9525">
            <a:solidFill>
              <a:srgbClr val="CCD4DD"/>
            </a:solidFill>
          </a:ln>
        </p:spPr>
      </p:sp>
      <p:sp>
        <p:nvSpPr>
          <p:cNvPr id="7" name="">
            <a:extLst xmlns:a="http://schemas.openxmlformats.org/drawingml/2006/main">
              <a:ext uri="{FF2B5EF4-FFF2-40B4-BE49-F238E27FC236}">
                <a16:creationId xmlns:a16="http://schemas.microsoft.com/office/drawing/2014/main" id="{1CEC12F2-93CE-4B42-BF48-9054261C08B3}"/>
              </a:ext>
            </a:extLst>
          </p:cNvPr>
          <p:cNvSpPr>
            <a:spLocks xmlns:a="http://schemas.openxmlformats.org/drawingml/2006/main" noGrp="1"/>
          </p:cNvSpPr>
          <p:nvPr/>
        </p:nvSpPr>
        <p:spPr>
          <a:xfrm xmlns:a="http://schemas.openxmlformats.org/drawingml/2006/main">
            <a:off x="1524000" y="461962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B8794"/>
                </a:solidFill>
                <a:latin typeface="Bitstream Charter"/>
                <a:ea typeface="Bitstream Charter"/>
                <a:cs typeface="Bitstream Charter"/>
              </a:defRPr>
            </a:pPr>
            <a:r>
              <a:rPr sz="2250" b="0">
                <a:solidFill>
                  <a:srgbClr val="7B8794"/>
                </a:solidFill>
                <a:latin typeface="Bitstream Charter"/>
                <a:ea typeface="Bitstream Charter"/>
                <a:cs typeface="Bitstream Charter"/>
              </a:rPr>
              <a:t>[Place your screen sketch or screenshot here]</a:t>
            </a:r>
          </a:p>
        </p:txBody>
      </p:sp>
      <p:sp>
        <p:nvSpPr>
          <p:cNvPr id="8" name="">
            <a:extLst xmlns:a="http://schemas.openxmlformats.org/drawingml/2006/main">
              <a:ext uri="{FF2B5EF4-FFF2-40B4-BE49-F238E27FC236}">
                <a16:creationId xmlns:a16="http://schemas.microsoft.com/office/drawing/2014/main" id="{A6307047-F412-42E4-974B-7861AC5BBA23}"/>
              </a:ext>
            </a:extLst>
          </p:cNvPr>
          <p:cNvSpPr>
            <a:spLocks xmlns:a="http://schemas.openxmlformats.org/drawingml/2006/main" noGrp="1"/>
          </p:cNvSpPr>
          <p:nvPr/>
        </p:nvSpPr>
        <p:spPr>
          <a:xfrm xmlns:a="http://schemas.openxmlformats.org/drawingml/2006/main">
            <a:off x="2047875" y="528637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B8794"/>
                </a:solidFill>
                <a:latin typeface="Bitstream Charter"/>
                <a:ea typeface="Bitstream Charter"/>
                <a:cs typeface="Bitstream Charter"/>
              </a:defRPr>
            </a:pPr>
            <a:r>
              <a:rPr sz="1800" b="0">
                <a:solidFill>
                  <a:srgbClr val="7B8794"/>
                </a:solidFill>
                <a:latin typeface="Bitstream Charter"/>
                <a:ea typeface="Bitstream Charter"/>
                <a:cs typeface="Bitstream Charter"/>
              </a:rPr>
              <a:t>Include the exact on-screen wording</a:t>
            </a:r>
          </a:p>
        </p:txBody>
      </p:sp>
      <p:sp>
        <p:nvSpPr>
          <p:cNvPr id="9" name="">
            <a:extLst xmlns:a="http://schemas.openxmlformats.org/drawingml/2006/main">
              <a:ext uri="{FF2B5EF4-FFF2-40B4-BE49-F238E27FC236}">
                <a16:creationId xmlns:a16="http://schemas.microsoft.com/office/drawing/2014/main" id="{3B508151-FEB4-453D-8F9C-044F89FB4F74}"/>
              </a:ext>
            </a:extLst>
          </p:cNvPr>
          <p:cNvSpPr>
            <a:spLocks xmlns:a="http://schemas.openxmlformats.org/drawingml/2006/main" noGrp="1"/>
          </p:cNvSpPr>
          <p:nvPr/>
        </p:nvSpPr>
        <p:spPr>
          <a:xfrm xmlns:a="http://schemas.openxmlformats.org/drawingml/2006/main">
            <a:off x="10001250" y="228600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THEY HEAR</a:t>
            </a:r>
          </a:p>
        </p:txBody>
      </p:sp>
      <p:sp>
        <p:nvSpPr>
          <p:cNvPr id="10" name="">
            <a:extLst xmlns:a="http://schemas.openxmlformats.org/drawingml/2006/main">
              <a:ext uri="{FF2B5EF4-FFF2-40B4-BE49-F238E27FC236}">
                <a16:creationId xmlns:a16="http://schemas.microsoft.com/office/drawing/2014/main" id="{CEB4A1EF-3B7E-447A-AE45-E85B71441DFF}"/>
              </a:ext>
            </a:extLst>
          </p:cNvPr>
          <p:cNvSpPr>
            <a:spLocks xmlns:a="http://schemas.openxmlformats.org/drawingml/2006/main" noGrp="1"/>
          </p:cNvSpPr>
          <p:nvPr/>
        </p:nvSpPr>
        <p:spPr>
          <a:xfrm xmlns:a="http://schemas.openxmlformats.org/drawingml/2006/main">
            <a:off x="10001250" y="276225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374B"/>
                </a:solidFill>
                <a:latin typeface="Bitstream Charter"/>
                <a:ea typeface="Bitstream Charter"/>
                <a:cs typeface="Bitstream Charter"/>
              </a:defRPr>
            </a:pPr>
            <a:r>
              <a:rPr sz="1950" b="0">
                <a:solidFill>
                  <a:srgbClr val="26374B"/>
                </a:solidFill>
                <a:latin typeface="Bitstream Charter"/>
                <a:ea typeface="Bitstream Charter"/>
                <a:cs typeface="Bitstream Charter"/>
              </a:rPr>
              <a:t>[Exact narration or a short excerpt. Put the full script in Notes if needed.]</a:t>
            </a:r>
          </a:p>
        </p:txBody>
      </p:sp>
      <p:sp>
        <p:nvSpPr>
          <p:cNvPr id="11" name="">
            <a:extLst xmlns:a="http://schemas.openxmlformats.org/drawingml/2006/main">
              <a:ext uri="{FF2B5EF4-FFF2-40B4-BE49-F238E27FC236}">
                <a16:creationId xmlns:a16="http://schemas.microsoft.com/office/drawing/2014/main" id="{CC9300FE-B6F8-4FAE-8D6F-81FF246A9A94}"/>
              </a:ext>
            </a:extLst>
          </p:cNvPr>
          <p:cNvSpPr>
            <a:spLocks xmlns:a="http://schemas.openxmlformats.org/drawingml/2006/main" noGrp="1"/>
          </p:cNvSpPr>
          <p:nvPr/>
        </p:nvSpPr>
        <p:spPr>
          <a:xfrm xmlns:a="http://schemas.openxmlformats.org/drawingml/2006/main">
            <a:off x="10001250" y="4238625"/>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THEY DO</a:t>
            </a:r>
          </a:p>
        </p:txBody>
      </p:sp>
      <p:sp>
        <p:nvSpPr>
          <p:cNvPr id="12" name="">
            <a:extLst xmlns:a="http://schemas.openxmlformats.org/drawingml/2006/main">
              <a:ext uri="{FF2B5EF4-FFF2-40B4-BE49-F238E27FC236}">
                <a16:creationId xmlns:a16="http://schemas.microsoft.com/office/drawing/2014/main" id="{F0CEB39E-DC14-4CBA-8D96-61D8C94949E4}"/>
              </a:ext>
            </a:extLst>
          </p:cNvPr>
          <p:cNvSpPr>
            <a:spLocks xmlns:a="http://schemas.openxmlformats.org/drawingml/2006/main" noGrp="1"/>
          </p:cNvSpPr>
          <p:nvPr/>
        </p:nvSpPr>
        <p:spPr>
          <a:xfrm xmlns:a="http://schemas.openxmlformats.org/drawingml/2006/main">
            <a:off x="10001250" y="471487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374B"/>
                </a:solidFill>
                <a:latin typeface="Bitstream Charter"/>
                <a:ea typeface="Bitstream Charter"/>
                <a:cs typeface="Bitstream Charter"/>
              </a:defRPr>
            </a:pPr>
            <a:r>
              <a:rPr sz="1950" b="0">
                <a:solidFill>
                  <a:srgbClr val="26374B"/>
                </a:solidFill>
                <a:latin typeface="Bitstream Charter"/>
                <a:ea typeface="Bitstream Charter"/>
                <a:cs typeface="Bitstream Charter"/>
              </a:rPr>
              <a:t>[Learner action and the response they receive]</a:t>
            </a:r>
          </a:p>
        </p:txBody>
      </p:sp>
      <p:sp>
        <p:nvSpPr>
          <p:cNvPr id="13" name="">
            <a:extLst xmlns:a="http://schemas.openxmlformats.org/drawingml/2006/main">
              <a:ext uri="{FF2B5EF4-FFF2-40B4-BE49-F238E27FC236}">
                <a16:creationId xmlns:a16="http://schemas.microsoft.com/office/drawing/2014/main" id="{1B74C2F2-2519-4FDF-BFDD-EAE828A34279}"/>
              </a:ext>
            </a:extLst>
          </p:cNvPr>
          <p:cNvSpPr>
            <a:spLocks xmlns:a="http://schemas.openxmlformats.org/drawingml/2006/main" noGrp="1"/>
          </p:cNvSpPr>
          <p:nvPr/>
        </p:nvSpPr>
        <p:spPr>
          <a:xfrm xmlns:a="http://schemas.openxmlformats.org/drawingml/2006/main">
            <a:off x="10001250" y="60007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HAPPENS NEXT</a:t>
            </a:r>
          </a:p>
        </p:txBody>
      </p:sp>
      <p:sp>
        <p:nvSpPr>
          <p:cNvPr id="14" name="">
            <a:extLst xmlns:a="http://schemas.openxmlformats.org/drawingml/2006/main">
              <a:ext uri="{FF2B5EF4-FFF2-40B4-BE49-F238E27FC236}">
                <a16:creationId xmlns:a16="http://schemas.microsoft.com/office/drawing/2014/main" id="{78113CFF-5990-44B7-82D0-58176341E5A5}"/>
              </a:ext>
            </a:extLst>
          </p:cNvPr>
          <p:cNvSpPr>
            <a:spLocks xmlns:a="http://schemas.openxmlformats.org/drawingml/2006/main" noGrp="1"/>
          </p:cNvSpPr>
          <p:nvPr/>
        </p:nvSpPr>
        <p:spPr>
          <a:xfrm xmlns:a="http://schemas.openxmlformats.org/drawingml/2006/main">
            <a:off x="10001250" y="647700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[Feedback, animation, timing or next screen]</a:t>
            </a:r>
          </a:p>
        </p:txBody>
      </p:sp>
      <p:sp>
        <p:nvSpPr>
          <p:cNvPr id="15" name="">
            <a:extLst xmlns:a="http://schemas.openxmlformats.org/drawingml/2006/main">
              <a:ext uri="{FF2B5EF4-FFF2-40B4-BE49-F238E27FC236}">
                <a16:creationId xmlns:a16="http://schemas.microsoft.com/office/drawing/2014/main" id="{9721F93A-3BE5-444B-9618-E22C344BB186}"/>
              </a:ext>
            </a:extLst>
          </p:cNvPr>
          <p:cNvSpPr>
            <a:spLocks xmlns:a="http://schemas.openxmlformats.org/drawingml/2006/main" noGrp="1"/>
          </p:cNvSpPr>
          <p:nvPr/>
        </p:nvSpPr>
        <p:spPr>
          <a:xfrm xmlns:a="http://schemas.openxmlformats.org/drawingml/2006/main">
            <a:off x="571500" y="8096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65B83"/>
                </a:solidFill>
                <a:latin typeface="Bitstream Charter"/>
                <a:ea typeface="Bitstream Charter"/>
                <a:cs typeface="Bitstream Charter"/>
              </a:defRPr>
            </a:pPr>
            <a:r>
              <a:rPr sz="1500" b="1">
                <a:solidFill>
                  <a:srgbClr val="365B83"/>
                </a:solidFill>
                <a:latin typeface="Bitstream Charter"/>
                <a:ea typeface="Bitstream Charter"/>
                <a:cs typeface="Bitstream Charter"/>
              </a:rPr>
              <a:t>MEDIA AND ACCESS</a:t>
            </a:r>
          </a:p>
        </p:txBody>
      </p:sp>
      <p:sp>
        <p:nvSpPr>
          <p:cNvPr id="16" name="">
            <a:extLst xmlns:a="http://schemas.openxmlformats.org/drawingml/2006/main">
              <a:ext uri="{FF2B5EF4-FFF2-40B4-BE49-F238E27FC236}">
                <a16:creationId xmlns:a16="http://schemas.microsoft.com/office/drawing/2014/main" id="{AED3768C-A5E8-4B20-8459-C477D77FFE31}"/>
              </a:ext>
            </a:extLst>
          </p:cNvPr>
          <p:cNvSpPr>
            <a:spLocks xmlns:a="http://schemas.openxmlformats.org/drawingml/2006/main" noGrp="1"/>
          </p:cNvSpPr>
          <p:nvPr/>
        </p:nvSpPr>
        <p:spPr>
          <a:xfrm xmlns:a="http://schemas.openxmlformats.org/drawingml/2006/main">
            <a:off x="571500" y="8505825"/>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6374B"/>
                </a:solidFill>
                <a:latin typeface="Bitstream Charter"/>
                <a:ea typeface="Bitstream Charter"/>
                <a:cs typeface="Bitstream Charter"/>
              </a:defRPr>
            </a:pPr>
            <a:r>
              <a:rPr sz="1725" b="0">
                <a:solidFill>
                  <a:srgbClr val="26374B"/>
                </a:solidFill>
                <a:latin typeface="Bitstream Charter"/>
                <a:ea typeface="Bitstream Charter"/>
                <a:cs typeface="Bitstream Charter"/>
              </a:rPr>
              <a:t>[Needed media, source IDs and an important accessibility note]</a:t>
            </a:r>
          </a:p>
        </p:txBody>
      </p:sp>
      <p:sp>
        <p:nvSpPr>
          <p:cNvPr id="17" name="">
            <a:extLst xmlns:a="http://schemas.openxmlformats.org/drawingml/2006/main">
              <a:ext uri="{FF2B5EF4-FFF2-40B4-BE49-F238E27FC236}">
                <a16:creationId xmlns:a16="http://schemas.microsoft.com/office/drawing/2014/main" id="{B4C7E428-0695-4A52-AD6E-2F84819A7AC4}"/>
              </a:ext>
            </a:extLst>
          </p:cNvPr>
          <p:cNvSpPr>
            <a:spLocks xmlns:a="http://schemas.openxmlformats.org/drawingml/2006/main" noGrp="1"/>
          </p:cNvSpPr>
          <p:nvPr/>
        </p:nvSpPr>
        <p:spPr>
          <a:xfrm xmlns:a="http://schemas.openxmlformats.org/drawingml/2006/main">
            <a:off x="10001250" y="80962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65B83"/>
                </a:solidFill>
                <a:latin typeface="Bitstream Charter"/>
                <a:ea typeface="Bitstream Charter"/>
                <a:cs typeface="Bitstream Charter"/>
              </a:defRPr>
            </a:pPr>
            <a:r>
              <a:rPr sz="1500" b="1">
                <a:solidFill>
                  <a:srgbClr val="365B83"/>
                </a:solidFill>
                <a:latin typeface="Bitstream Charter"/>
                <a:ea typeface="Bitstream Charter"/>
                <a:cs typeface="Bitstream Charter"/>
              </a:rPr>
              <a:t>REVIEW NOTE</a:t>
            </a:r>
          </a:p>
        </p:txBody>
      </p:sp>
      <p:sp>
        <p:nvSpPr>
          <p:cNvPr id="18" name="">
            <a:extLst xmlns:a="http://schemas.openxmlformats.org/drawingml/2006/main">
              <a:ext uri="{FF2B5EF4-FFF2-40B4-BE49-F238E27FC236}">
                <a16:creationId xmlns:a16="http://schemas.microsoft.com/office/drawing/2014/main" id="{38254C69-D6E4-4E9B-BA58-11FD6D739191}"/>
              </a:ext>
            </a:extLst>
          </p:cNvPr>
          <p:cNvSpPr>
            <a:spLocks xmlns:a="http://schemas.openxmlformats.org/drawingml/2006/main" noGrp="1"/>
          </p:cNvSpPr>
          <p:nvPr/>
        </p:nvSpPr>
        <p:spPr>
          <a:xfrm xmlns:a="http://schemas.openxmlformats.org/drawingml/2006/main">
            <a:off x="10001250" y="85058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6374B"/>
                </a:solidFill>
                <a:latin typeface="Bitstream Charter"/>
                <a:ea typeface="Bitstream Charter"/>
                <a:cs typeface="Bitstream Charter"/>
              </a:defRPr>
            </a:pPr>
            <a:r>
              <a:rPr sz="1725" b="0">
                <a:solidFill>
                  <a:srgbClr val="26374B"/>
                </a:solidFill>
                <a:latin typeface="Bitstream Charter"/>
                <a:ea typeface="Bitstream Charter"/>
                <a:cs typeface="Bitstream Charter"/>
              </a:rPr>
              <a:t>[Question, decision or reviewer comment]</a:t>
            </a:r>
          </a:p>
        </p:txBody>
      </p:sp>
    </p:spTree>
    <p:extLst>
      <p:ext uri="{BB962C8B-B14F-4D97-AF65-F5344CB8AC3E}">
        <p14:creationId xmlns:p14="http://schemas.microsoft.com/office/powerpoint/2010/main" val="498423744"/>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B723FF0-1DC2-46FB-81B1-3B4A71466224}"/>
              </a:ext>
            </a:extLst>
          </p:cNvPr>
          <p:cNvSpPr>
            <a:spLocks xmlns:a="http://schemas.openxmlformats.org/drawingml/2006/main" noGrp="1"/>
          </p:cNvSpPr>
          <p:nvPr/>
        </p:nvSpPr>
        <p:spPr>
          <a:xfrm xmlns:a="http://schemas.openxmlformats.org/drawingml/2006/main">
            <a:off x="571500" y="333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83D"/>
                </a:solidFill>
                <a:latin typeface="Bitstream Charter"/>
                <a:ea typeface="Bitstream Charter"/>
                <a:cs typeface="Bitstream Charter"/>
              </a:defRPr>
            </a:pPr>
            <a:r>
              <a:rPr sz="3225" b="1">
                <a:solidFill>
                  <a:srgbClr val="17283D"/>
                </a:solidFill>
                <a:latin typeface="Bitstream Charter"/>
                <a:ea typeface="Bitstream Charter"/>
                <a:cs typeface="Bitstream Charter"/>
              </a:rPr>
              <a:t>Example   Choosing the best source</a:t>
            </a:r>
          </a:p>
        </p:txBody>
      </p:sp>
      <p:sp>
        <p:nvSpPr>
          <p:cNvPr id="2" name="">
            <a:extLst xmlns:a="http://schemas.openxmlformats.org/drawingml/2006/main">
              <a:ext uri="{FF2B5EF4-FFF2-40B4-BE49-F238E27FC236}">
                <a16:creationId xmlns:a16="http://schemas.microsoft.com/office/drawing/2014/main" id="{685C6550-3F76-422F-928D-A24E1104034B}"/>
              </a:ext>
            </a:extLst>
          </p:cNvPr>
          <p:cNvSpPr>
            <a:spLocks xmlns:a="http://schemas.openxmlformats.org/drawingml/2006/main" noGrp="1"/>
          </p:cNvSpPr>
          <p:nvPr/>
        </p:nvSpPr>
        <p:spPr>
          <a:xfrm xmlns:a="http://schemas.openxmlformats.org/drawingml/2006/main">
            <a:off x="571500" y="10477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386"/>
                </a:solidFill>
                <a:latin typeface="Bitstream Charter"/>
                <a:ea typeface="Bitstream Charter"/>
                <a:cs typeface="Bitstream Charter"/>
              </a:defRPr>
            </a:pPr>
            <a:r>
              <a:rPr sz="1650" b="0">
                <a:solidFill>
                  <a:srgbClr val="627386"/>
                </a:solidFill>
                <a:latin typeface="Bitstream Charter"/>
                <a:ea typeface="Bitstream Charter"/>
                <a:cs typeface="Bitstream Charter"/>
              </a:rPr>
              <a:t>SCENE SC-001     OBJECTIVE OBJ-01     VERSION 0.1     STATUS Draft</a:t>
            </a:r>
          </a:p>
        </p:txBody>
      </p:sp>
      <p:sp>
        <p:nvSpPr>
          <p:cNvPr id="3" name="">
            <a:extLst xmlns:a="http://schemas.openxmlformats.org/drawingml/2006/main">
              <a:ext uri="{FF2B5EF4-FFF2-40B4-BE49-F238E27FC236}">
                <a16:creationId xmlns:a16="http://schemas.microsoft.com/office/drawing/2014/main" id="{AE36DBD7-67D8-49B1-B50A-2E241EF1C6F8}"/>
              </a:ext>
            </a:extLst>
          </p:cNvPr>
          <p:cNvSpPr>
            <a:spLocks xmlns:a="http://schemas.openxmlformats.org/drawingml/2006/main" noGrp="1"/>
          </p:cNvSpPr>
          <p:nvPr/>
        </p:nvSpPr>
        <p:spPr>
          <a:xfrm xmlns:a="http://schemas.openxmlformats.org/drawingml/2006/main">
            <a:off x="571500" y="1619250"/>
            <a:ext cx="228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65B83"/>
                </a:solidFill>
                <a:latin typeface="Bitstream Charter"/>
                <a:ea typeface="Bitstream Charter"/>
                <a:cs typeface="Bitstream Charter"/>
              </a:defRPr>
            </a:pPr>
            <a:r>
              <a:rPr sz="1650" b="1">
                <a:solidFill>
                  <a:srgbClr val="365B83"/>
                </a:solidFill>
                <a:latin typeface="Bitstream Charter"/>
                <a:ea typeface="Bitstream Charter"/>
                <a:cs typeface="Bitstream Charter"/>
              </a:rPr>
              <a:t>Learning purpose</a:t>
            </a:r>
          </a:p>
        </p:txBody>
      </p:sp>
      <p:sp>
        <p:nvSpPr>
          <p:cNvPr id="4" name="">
            <a:extLst xmlns:a="http://schemas.openxmlformats.org/drawingml/2006/main">
              <a:ext uri="{FF2B5EF4-FFF2-40B4-BE49-F238E27FC236}">
                <a16:creationId xmlns:a16="http://schemas.microsoft.com/office/drawing/2014/main" id="{65BE3F79-909D-4EC5-AFDD-5F34FFAE15EF}"/>
              </a:ext>
            </a:extLst>
          </p:cNvPr>
          <p:cNvSpPr>
            <a:spLocks xmlns:a="http://schemas.openxmlformats.org/drawingml/2006/main" noGrp="1"/>
          </p:cNvSpPr>
          <p:nvPr/>
        </p:nvSpPr>
        <p:spPr>
          <a:xfrm xmlns:a="http://schemas.openxmlformats.org/drawingml/2006/main">
            <a:off x="2952750" y="1619250"/>
            <a:ext cx="1171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Choose evidence that supports a claim.</a:t>
            </a:r>
          </a:p>
        </p:txBody>
      </p:sp>
      <p:sp>
        <p:nvSpPr>
          <p:cNvPr id="5" name="">
            <a:extLst xmlns:a="http://schemas.openxmlformats.org/drawingml/2006/main">
              <a:ext uri="{FF2B5EF4-FFF2-40B4-BE49-F238E27FC236}">
                <a16:creationId xmlns:a16="http://schemas.microsoft.com/office/drawing/2014/main" id="{CE5EFB96-9BC7-4C42-BA55-66F56B0F5B56}"/>
              </a:ext>
            </a:extLst>
          </p:cNvPr>
          <p:cNvSpPr>
            <a:spLocks xmlns:a="http://schemas.openxmlformats.org/drawingml/2006/main" noGrp="1"/>
          </p:cNvSpPr>
          <p:nvPr/>
        </p:nvSpPr>
        <p:spPr>
          <a:xfrm xmlns:a="http://schemas.openxmlformats.org/drawingml/2006/main">
            <a:off x="571500" y="2286000"/>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 LEARNER SEES</a:t>
            </a:r>
          </a:p>
        </p:txBody>
      </p:sp>
      <p:sp>
        <p:nvSpPr>
          <p:cNvPr id="6" name="">
            <a:extLst xmlns:a="http://schemas.openxmlformats.org/drawingml/2006/main">
              <a:ext uri="{FF2B5EF4-FFF2-40B4-BE49-F238E27FC236}">
                <a16:creationId xmlns:a16="http://schemas.microsoft.com/office/drawing/2014/main" id="{CAAAF980-C2F6-4936-BBF7-334C39F32C3F}"/>
              </a:ext>
            </a:extLst>
          </p:cNvPr>
          <p:cNvSpPr>
            <a:spLocks xmlns:a="http://schemas.openxmlformats.org/drawingml/2006/main" noGrp="1"/>
          </p:cNvSpPr>
          <p:nvPr/>
        </p:nvSpPr>
        <p:spPr>
          <a:xfrm xmlns:a="http://schemas.openxmlformats.org/drawingml/2006/main">
            <a:off x="571500" y="2762250"/>
            <a:ext cx="8858250" cy="4982766"/>
          </a:xfrm>
          <a:prstGeom xmlns:a="http://schemas.openxmlformats.org/drawingml/2006/main" prst="rect">
            <a:avLst/>
          </a:prstGeom>
          <a:solidFill xmlns:a="http://schemas.openxmlformats.org/drawingml/2006/main">
            <a:srgbClr val="FFFFFF"/>
          </a:solidFill>
          <a:ln xmlns:a="http://schemas.openxmlformats.org/drawingml/2006/main" w="9525">
            <a:solidFill>
              <a:srgbClr val="CCD4DD"/>
            </a:solidFill>
          </a:ln>
        </p:spPr>
      </p:sp>
      <p:sp>
        <p:nvSpPr>
          <p:cNvPr id="7" name="">
            <a:extLst xmlns:a="http://schemas.openxmlformats.org/drawingml/2006/main">
              <a:ext uri="{FF2B5EF4-FFF2-40B4-BE49-F238E27FC236}">
                <a16:creationId xmlns:a16="http://schemas.microsoft.com/office/drawing/2014/main" id="{340ECA60-4384-4E1D-BBDF-664EAB1FD737}"/>
              </a:ext>
            </a:extLst>
          </p:cNvPr>
          <p:cNvSpPr>
            <a:spLocks xmlns:a="http://schemas.openxmlformats.org/drawingml/2006/main" noGrp="1"/>
          </p:cNvSpPr>
          <p:nvPr/>
        </p:nvSpPr>
        <p:spPr>
          <a:xfrm xmlns:a="http://schemas.openxmlformats.org/drawingml/2006/main">
            <a:off x="1000125" y="316230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283D"/>
                </a:solidFill>
                <a:latin typeface="Bitstream Charter"/>
                <a:ea typeface="Bitstream Charter"/>
                <a:cs typeface="Bitstream Charter"/>
              </a:defRPr>
            </a:pPr>
            <a:r>
              <a:rPr sz="2475" b="1">
                <a:solidFill>
                  <a:srgbClr val="17283D"/>
                </a:solidFill>
                <a:latin typeface="Bitstream Charter"/>
                <a:ea typeface="Bitstream Charter"/>
                <a:cs typeface="Bitstream Charter"/>
              </a:rPr>
              <a:t>Which source best supports the claim?</a:t>
            </a:r>
          </a:p>
        </p:txBody>
      </p:sp>
      <p:sp>
        <p:nvSpPr>
          <p:cNvPr id="8" name="">
            <a:extLst xmlns:a="http://schemas.openxmlformats.org/drawingml/2006/main">
              <a:ext uri="{FF2B5EF4-FFF2-40B4-BE49-F238E27FC236}">
                <a16:creationId xmlns:a16="http://schemas.microsoft.com/office/drawing/2014/main" id="{86E2250C-F61E-47CB-B338-42E7346AB60A}"/>
              </a:ext>
            </a:extLst>
          </p:cNvPr>
          <p:cNvSpPr>
            <a:spLocks xmlns:a="http://schemas.openxmlformats.org/drawingml/2006/main" noGrp="1"/>
          </p:cNvSpPr>
          <p:nvPr/>
        </p:nvSpPr>
        <p:spPr>
          <a:xfrm xmlns:a="http://schemas.openxmlformats.org/drawingml/2006/main">
            <a:off x="1000125" y="3952875"/>
            <a:ext cx="790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374B"/>
                </a:solidFill>
                <a:latin typeface="Bitstream Charter"/>
                <a:ea typeface="Bitstream Charter"/>
                <a:cs typeface="Bitstream Charter"/>
              </a:defRPr>
            </a:pPr>
            <a:r>
              <a:rPr sz="1950" b="0">
                <a:solidFill>
                  <a:srgbClr val="26374B"/>
                </a:solidFill>
                <a:latin typeface="Bitstream Charter"/>
                <a:ea typeface="Bitstream Charter"/>
                <a:cs typeface="Bitstream Charter"/>
              </a:rPr>
              <a:t>Claim: The training improved task performance.</a:t>
            </a:r>
          </a:p>
        </p:txBody>
      </p:sp>
      <p:sp>
        <p:nvSpPr>
          <p:cNvPr id="9" name="">
            <a:extLst xmlns:a="http://schemas.openxmlformats.org/drawingml/2006/main">
              <a:ext uri="{FF2B5EF4-FFF2-40B4-BE49-F238E27FC236}">
                <a16:creationId xmlns:a16="http://schemas.microsoft.com/office/drawing/2014/main" id="{2FF675E0-554D-48B3-A479-DC55DC8318AF}"/>
              </a:ext>
            </a:extLst>
          </p:cNvPr>
          <p:cNvSpPr>
            <a:spLocks xmlns:a="http://schemas.openxmlformats.org/drawingml/2006/main" noGrp="1"/>
          </p:cNvSpPr>
          <p:nvPr/>
        </p:nvSpPr>
        <p:spPr>
          <a:xfrm xmlns:a="http://schemas.openxmlformats.org/drawingml/2006/main">
            <a:off x="1000125" y="4762500"/>
            <a:ext cx="762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374B"/>
                </a:solidFill>
                <a:latin typeface="Bitstream Charter"/>
                <a:ea typeface="Bitstream Charter"/>
                <a:cs typeface="Bitstream Charter"/>
              </a:defRPr>
            </a:pPr>
            <a:r>
              <a:rPr sz="2025" b="0">
                <a:solidFill>
                  <a:srgbClr val="26374B"/>
                </a:solidFill>
                <a:latin typeface="Bitstream Charter"/>
                <a:ea typeface="Bitstream Charter"/>
                <a:cs typeface="Bitstream Charter"/>
              </a:rPr>
              <a:t>A   Participant satisfaction survey</a:t>
            </a:r>
          </a:p>
          <a:p xmlns:a="http://schemas.openxmlformats.org/drawingml/2006/main">
            <a:r>
              <a:t/>
            </a:r>
          </a:p>
          <a:p xmlns:a="http://schemas.openxmlformats.org/drawingml/2006/main">
            <a:pPr>
              <a:defRPr sz="2025" b="0">
                <a:solidFill>
                  <a:srgbClr val="26374B"/>
                </a:solidFill>
                <a:latin typeface="Bitstream Charter"/>
                <a:ea typeface="Bitstream Charter"/>
                <a:cs typeface="Bitstream Charter"/>
              </a:defRPr>
            </a:pPr>
            <a:r>
              <a:rPr sz="2025" b="0">
                <a:solidFill>
                  <a:srgbClr val="26374B"/>
                </a:solidFill>
                <a:latin typeface="Bitstream Charter"/>
                <a:ea typeface="Bitstream Charter"/>
                <a:cs typeface="Bitstream Charter"/>
              </a:rPr>
              <a:t>B   Performance scores before and after training</a:t>
            </a:r>
          </a:p>
          <a:p xmlns:a="http://schemas.openxmlformats.org/drawingml/2006/main">
            <a:r>
              <a:t/>
            </a:r>
          </a:p>
          <a:p xmlns:a="http://schemas.openxmlformats.org/drawingml/2006/main">
            <a:pPr>
              <a:defRPr sz="2025" b="0">
                <a:solidFill>
                  <a:srgbClr val="26374B"/>
                </a:solidFill>
                <a:latin typeface="Bitstream Charter"/>
                <a:ea typeface="Bitstream Charter"/>
                <a:cs typeface="Bitstream Charter"/>
              </a:defRPr>
            </a:pPr>
            <a:r>
              <a:rPr sz="2025" b="0">
                <a:solidFill>
                  <a:srgbClr val="26374B"/>
                </a:solidFill>
                <a:latin typeface="Bitstream Charter"/>
                <a:ea typeface="Bitstream Charter"/>
                <a:cs typeface="Bitstream Charter"/>
              </a:rPr>
              <a:t>C   Number of people who attended</a:t>
            </a:r>
          </a:p>
        </p:txBody>
      </p:sp>
      <p:sp>
        <p:nvSpPr>
          <p:cNvPr id="10" name="">
            <a:extLst xmlns:a="http://schemas.openxmlformats.org/drawingml/2006/main">
              <a:ext uri="{FF2B5EF4-FFF2-40B4-BE49-F238E27FC236}">
                <a16:creationId xmlns:a16="http://schemas.microsoft.com/office/drawing/2014/main" id="{264D0C2D-8B81-4BAC-82C9-14FA8A99AE1F}"/>
              </a:ext>
            </a:extLst>
          </p:cNvPr>
          <p:cNvSpPr>
            <a:spLocks xmlns:a="http://schemas.openxmlformats.org/drawingml/2006/main" noGrp="1"/>
          </p:cNvSpPr>
          <p:nvPr/>
        </p:nvSpPr>
        <p:spPr>
          <a:xfrm xmlns:a="http://schemas.openxmlformats.org/drawingml/2006/main">
            <a:off x="1000125" y="7181850"/>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7386"/>
                </a:solidFill>
                <a:latin typeface="Bitstream Charter"/>
                <a:ea typeface="Bitstream Charter"/>
                <a:cs typeface="Bitstream Charter"/>
              </a:defRPr>
            </a:pPr>
            <a:r>
              <a:rPr sz="1725" b="0">
                <a:solidFill>
                  <a:srgbClr val="627386"/>
                </a:solidFill>
                <a:latin typeface="Bitstream Charter"/>
                <a:ea typeface="Bitstream Charter"/>
                <a:cs typeface="Bitstream Charter"/>
              </a:rPr>
              <a:t>Choose one answer, then select Submit.</a:t>
            </a:r>
          </a:p>
        </p:txBody>
      </p:sp>
      <p:sp>
        <p:nvSpPr>
          <p:cNvPr id="11" name="">
            <a:extLst xmlns:a="http://schemas.openxmlformats.org/drawingml/2006/main">
              <a:ext uri="{FF2B5EF4-FFF2-40B4-BE49-F238E27FC236}">
                <a16:creationId xmlns:a16="http://schemas.microsoft.com/office/drawing/2014/main" id="{43150E48-A0A6-403F-976B-BD61787F97D5}"/>
              </a:ext>
            </a:extLst>
          </p:cNvPr>
          <p:cNvSpPr>
            <a:spLocks xmlns:a="http://schemas.openxmlformats.org/drawingml/2006/main" noGrp="1"/>
          </p:cNvSpPr>
          <p:nvPr/>
        </p:nvSpPr>
        <p:spPr>
          <a:xfrm xmlns:a="http://schemas.openxmlformats.org/drawingml/2006/main">
            <a:off x="10001250" y="228600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THEY HEAR</a:t>
            </a:r>
          </a:p>
        </p:txBody>
      </p:sp>
      <p:sp>
        <p:nvSpPr>
          <p:cNvPr id="12" name="">
            <a:extLst xmlns:a="http://schemas.openxmlformats.org/drawingml/2006/main">
              <a:ext uri="{FF2B5EF4-FFF2-40B4-BE49-F238E27FC236}">
                <a16:creationId xmlns:a16="http://schemas.microsoft.com/office/drawing/2014/main" id="{AEC4B585-AC53-431C-BC76-A2347A65B34E}"/>
              </a:ext>
            </a:extLst>
          </p:cNvPr>
          <p:cNvSpPr>
            <a:spLocks xmlns:a="http://schemas.openxmlformats.org/drawingml/2006/main" noGrp="1"/>
          </p:cNvSpPr>
          <p:nvPr/>
        </p:nvSpPr>
        <p:spPr>
          <a:xfrm xmlns:a="http://schemas.openxmlformats.org/drawingml/2006/main">
            <a:off x="10001250" y="276225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374B"/>
                </a:solidFill>
                <a:latin typeface="Bitstream Charter"/>
                <a:ea typeface="Bitstream Charter"/>
                <a:cs typeface="Bitstream Charter"/>
              </a:defRPr>
            </a:pPr>
            <a:r>
              <a:rPr sz="1950" b="0">
                <a:solidFill>
                  <a:srgbClr val="26374B"/>
                </a:solidFill>
                <a:latin typeface="Bitstream Charter"/>
                <a:ea typeface="Bitstream Charter"/>
                <a:cs typeface="Bitstream Charter"/>
              </a:rPr>
              <a:t>“Think about the evidence you would need to support this claim. Choose the strongest source.”</a:t>
            </a:r>
          </a:p>
        </p:txBody>
      </p:sp>
      <p:sp>
        <p:nvSpPr>
          <p:cNvPr id="13" name="">
            <a:extLst xmlns:a="http://schemas.openxmlformats.org/drawingml/2006/main">
              <a:ext uri="{FF2B5EF4-FFF2-40B4-BE49-F238E27FC236}">
                <a16:creationId xmlns:a16="http://schemas.microsoft.com/office/drawing/2014/main" id="{607C3EC2-14E1-44DE-9F92-D09060AFABD0}"/>
              </a:ext>
            </a:extLst>
          </p:cNvPr>
          <p:cNvSpPr>
            <a:spLocks xmlns:a="http://schemas.openxmlformats.org/drawingml/2006/main" noGrp="1"/>
          </p:cNvSpPr>
          <p:nvPr/>
        </p:nvSpPr>
        <p:spPr>
          <a:xfrm xmlns:a="http://schemas.openxmlformats.org/drawingml/2006/main">
            <a:off x="10001250" y="4238625"/>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THEY DO</a:t>
            </a:r>
          </a:p>
        </p:txBody>
      </p:sp>
      <p:sp>
        <p:nvSpPr>
          <p:cNvPr id="14" name="">
            <a:extLst xmlns:a="http://schemas.openxmlformats.org/drawingml/2006/main">
              <a:ext uri="{FF2B5EF4-FFF2-40B4-BE49-F238E27FC236}">
                <a16:creationId xmlns:a16="http://schemas.microsoft.com/office/drawing/2014/main" id="{9774DB86-B69B-4419-885E-37BC02B25550}"/>
              </a:ext>
            </a:extLst>
          </p:cNvPr>
          <p:cNvSpPr>
            <a:spLocks xmlns:a="http://schemas.openxmlformats.org/drawingml/2006/main" noGrp="1"/>
          </p:cNvSpPr>
          <p:nvPr/>
        </p:nvSpPr>
        <p:spPr>
          <a:xfrm xmlns:a="http://schemas.openxmlformats.org/drawingml/2006/main">
            <a:off x="10001250" y="4714875"/>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6374B"/>
                </a:solidFill>
                <a:latin typeface="Bitstream Charter"/>
                <a:ea typeface="Bitstream Charter"/>
                <a:cs typeface="Bitstream Charter"/>
              </a:defRPr>
            </a:pPr>
            <a:r>
              <a:rPr sz="1950" b="0">
                <a:solidFill>
                  <a:srgbClr val="26374B"/>
                </a:solidFill>
                <a:latin typeface="Bitstream Charter"/>
                <a:ea typeface="Bitstream Charter"/>
                <a:cs typeface="Bitstream Charter"/>
              </a:rPr>
              <a:t>Select a source and submit. Allow another attempt after feedback.</a:t>
            </a:r>
          </a:p>
        </p:txBody>
      </p:sp>
      <p:sp>
        <p:nvSpPr>
          <p:cNvPr id="15" name="">
            <a:extLst xmlns:a="http://schemas.openxmlformats.org/drawingml/2006/main">
              <a:ext uri="{FF2B5EF4-FFF2-40B4-BE49-F238E27FC236}">
                <a16:creationId xmlns:a16="http://schemas.microsoft.com/office/drawing/2014/main" id="{821458F7-D3D4-468E-A6D0-417D4129B2CE}"/>
              </a:ext>
            </a:extLst>
          </p:cNvPr>
          <p:cNvSpPr>
            <a:spLocks xmlns:a="http://schemas.openxmlformats.org/drawingml/2006/main" noGrp="1"/>
          </p:cNvSpPr>
          <p:nvPr/>
        </p:nvSpPr>
        <p:spPr>
          <a:xfrm xmlns:a="http://schemas.openxmlformats.org/drawingml/2006/main">
            <a:off x="10001250" y="60007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65B83"/>
                </a:solidFill>
                <a:latin typeface="Bitstream Charter"/>
                <a:ea typeface="Bitstream Charter"/>
                <a:cs typeface="Bitstream Charter"/>
              </a:defRPr>
            </a:pPr>
            <a:r>
              <a:rPr sz="1575" b="1">
                <a:solidFill>
                  <a:srgbClr val="365B83"/>
                </a:solidFill>
                <a:latin typeface="Bitstream Charter"/>
                <a:ea typeface="Bitstream Charter"/>
                <a:cs typeface="Bitstream Charter"/>
              </a:rPr>
              <a:t>WHAT HAPPENS NEXT</a:t>
            </a:r>
          </a:p>
        </p:txBody>
      </p:sp>
      <p:sp>
        <p:nvSpPr>
          <p:cNvPr id="16" name="">
            <a:extLst xmlns:a="http://schemas.openxmlformats.org/drawingml/2006/main">
              <a:ext uri="{FF2B5EF4-FFF2-40B4-BE49-F238E27FC236}">
                <a16:creationId xmlns:a16="http://schemas.microsoft.com/office/drawing/2014/main" id="{36BEF7CA-EC28-4B43-9719-0B9764BED270}"/>
              </a:ext>
            </a:extLst>
          </p:cNvPr>
          <p:cNvSpPr>
            <a:spLocks xmlns:a="http://schemas.openxmlformats.org/drawingml/2006/main" noGrp="1"/>
          </p:cNvSpPr>
          <p:nvPr/>
        </p:nvSpPr>
        <p:spPr>
          <a:xfrm xmlns:a="http://schemas.openxmlformats.org/drawingml/2006/main">
            <a:off x="10001250" y="647700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B: Explain why performance data fits the claim.</a:t>
            </a:r>
          </a:p>
          <a:p xmlns:a="http://schemas.openxmlformats.org/drawingml/2006/main">
            <a:pPr>
              <a:defRPr sz="1875" b="0">
                <a:solidFill>
                  <a:srgbClr val="26374B"/>
                </a:solidFill>
                <a:latin typeface="Bitstream Charter"/>
                <a:ea typeface="Bitstream Charter"/>
                <a:cs typeface="Bitstream Charter"/>
              </a:defRPr>
            </a:pPr>
            <a:r>
              <a:rPr sz="1875" b="0">
                <a:solidFill>
                  <a:srgbClr val="26374B"/>
                </a:solidFill>
                <a:latin typeface="Bitstream Charter"/>
                <a:ea typeface="Bitstream Charter"/>
                <a:cs typeface="Bitstream Charter"/>
              </a:rPr>
              <a:t>A or C: Explain what that source can show.</a:t>
            </a:r>
          </a:p>
        </p:txBody>
      </p:sp>
      <p:sp>
        <p:nvSpPr>
          <p:cNvPr id="17" name="">
            <a:extLst xmlns:a="http://schemas.openxmlformats.org/drawingml/2006/main">
              <a:ext uri="{FF2B5EF4-FFF2-40B4-BE49-F238E27FC236}">
                <a16:creationId xmlns:a16="http://schemas.microsoft.com/office/drawing/2014/main" id="{A2ECFA90-CE16-4E77-B95B-12297AEF5C8B}"/>
              </a:ext>
            </a:extLst>
          </p:cNvPr>
          <p:cNvSpPr>
            <a:spLocks xmlns:a="http://schemas.openxmlformats.org/drawingml/2006/main" noGrp="1"/>
          </p:cNvSpPr>
          <p:nvPr/>
        </p:nvSpPr>
        <p:spPr>
          <a:xfrm xmlns:a="http://schemas.openxmlformats.org/drawingml/2006/main">
            <a:off x="571500" y="8096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65B83"/>
                </a:solidFill>
                <a:latin typeface="Bitstream Charter"/>
                <a:ea typeface="Bitstream Charter"/>
                <a:cs typeface="Bitstream Charter"/>
              </a:defRPr>
            </a:pPr>
            <a:r>
              <a:rPr sz="1500" b="1">
                <a:solidFill>
                  <a:srgbClr val="365B83"/>
                </a:solidFill>
                <a:latin typeface="Bitstream Charter"/>
                <a:ea typeface="Bitstream Charter"/>
                <a:cs typeface="Bitstream Charter"/>
              </a:rPr>
              <a:t>MEDIA AND ACCESS</a:t>
            </a:r>
          </a:p>
        </p:txBody>
      </p:sp>
      <p:sp>
        <p:nvSpPr>
          <p:cNvPr id="18" name="">
            <a:extLst xmlns:a="http://schemas.openxmlformats.org/drawingml/2006/main">
              <a:ext uri="{FF2B5EF4-FFF2-40B4-BE49-F238E27FC236}">
                <a16:creationId xmlns:a16="http://schemas.microsoft.com/office/drawing/2014/main" id="{3FBCBC15-0325-43C1-A498-D157CC5A4EA5}"/>
              </a:ext>
            </a:extLst>
          </p:cNvPr>
          <p:cNvSpPr>
            <a:spLocks xmlns:a="http://schemas.openxmlformats.org/drawingml/2006/main" noGrp="1"/>
          </p:cNvSpPr>
          <p:nvPr/>
        </p:nvSpPr>
        <p:spPr>
          <a:xfrm xmlns:a="http://schemas.openxmlformats.org/drawingml/2006/main">
            <a:off x="571500" y="8505825"/>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6374B"/>
                </a:solidFill>
                <a:latin typeface="Bitstream Charter"/>
                <a:ea typeface="Bitstream Charter"/>
                <a:cs typeface="Bitstream Charter"/>
              </a:defRPr>
            </a:pPr>
            <a:r>
              <a:rPr sz="1725" b="0">
                <a:solidFill>
                  <a:srgbClr val="26374B"/>
                </a:solidFill>
                <a:latin typeface="Bitstream Charter"/>
                <a:ea typeface="Bitstream Charter"/>
                <a:cs typeface="Bitstream Charter"/>
              </a:rPr>
              <a:t>Editable text. Keyboard selection. Feedback announced to assistive technology.</a:t>
            </a:r>
          </a:p>
        </p:txBody>
      </p:sp>
      <p:sp>
        <p:nvSpPr>
          <p:cNvPr id="19" name="">
            <a:extLst xmlns:a="http://schemas.openxmlformats.org/drawingml/2006/main">
              <a:ext uri="{FF2B5EF4-FFF2-40B4-BE49-F238E27FC236}">
                <a16:creationId xmlns:a16="http://schemas.microsoft.com/office/drawing/2014/main" id="{E8E2E6CE-EC0D-4952-A087-9065862AD553}"/>
              </a:ext>
            </a:extLst>
          </p:cNvPr>
          <p:cNvSpPr>
            <a:spLocks xmlns:a="http://schemas.openxmlformats.org/drawingml/2006/main" noGrp="1"/>
          </p:cNvSpPr>
          <p:nvPr/>
        </p:nvSpPr>
        <p:spPr>
          <a:xfrm xmlns:a="http://schemas.openxmlformats.org/drawingml/2006/main">
            <a:off x="10001250" y="80962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65B83"/>
                </a:solidFill>
                <a:latin typeface="Bitstream Charter"/>
                <a:ea typeface="Bitstream Charter"/>
                <a:cs typeface="Bitstream Charter"/>
              </a:defRPr>
            </a:pPr>
            <a:r>
              <a:rPr sz="1500" b="1">
                <a:solidFill>
                  <a:srgbClr val="365B83"/>
                </a:solidFill>
                <a:latin typeface="Bitstream Charter"/>
                <a:ea typeface="Bitstream Charter"/>
                <a:cs typeface="Bitstream Charter"/>
              </a:rPr>
              <a:t>REVIEW NOTE</a:t>
            </a:r>
          </a:p>
        </p:txBody>
      </p:sp>
      <p:sp>
        <p:nvSpPr>
          <p:cNvPr id="20" name="">
            <a:extLst xmlns:a="http://schemas.openxmlformats.org/drawingml/2006/main">
              <a:ext uri="{FF2B5EF4-FFF2-40B4-BE49-F238E27FC236}">
                <a16:creationId xmlns:a16="http://schemas.microsoft.com/office/drawing/2014/main" id="{C443EB4E-793E-47F7-912C-D8DEE5BDD085}"/>
              </a:ext>
            </a:extLst>
          </p:cNvPr>
          <p:cNvSpPr>
            <a:spLocks xmlns:a="http://schemas.openxmlformats.org/drawingml/2006/main" noGrp="1"/>
          </p:cNvSpPr>
          <p:nvPr/>
        </p:nvSpPr>
        <p:spPr>
          <a:xfrm xmlns:a="http://schemas.openxmlformats.org/drawingml/2006/main">
            <a:off x="10001250" y="85058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6374B"/>
                </a:solidFill>
                <a:latin typeface="Bitstream Charter"/>
                <a:ea typeface="Bitstream Charter"/>
                <a:cs typeface="Bitstream Charter"/>
              </a:defRPr>
            </a:pPr>
            <a:r>
              <a:rPr sz="1725" b="0">
                <a:solidFill>
                  <a:srgbClr val="26374B"/>
                </a:solidFill>
                <a:latin typeface="Bitstream Charter"/>
                <a:ea typeface="Bitstream Charter"/>
                <a:cs typeface="Bitstream Charter"/>
              </a:rPr>
              <a:t>Confirm final feedback in the detailed record.</a:t>
            </a:r>
          </a:p>
        </p:txBody>
      </p:sp>
    </p:spTree>
    <p:extLst>
      <p:ext uri="{BB962C8B-B14F-4D97-AF65-F5344CB8AC3E}">
        <p14:creationId xmlns:p14="http://schemas.microsoft.com/office/powerpoint/2010/main" val="523347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2026-10-07T12:14:40.0280000Z</dcterms:created>
  <dcterms:modified xsi:type="dcterms:W3CDTF">2026-10-07T12:14:40.0280000Z</dcterms:modified>
</coreProperties>
</file>